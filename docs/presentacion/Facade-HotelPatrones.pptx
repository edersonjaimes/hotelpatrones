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FE0E9D1D-6EC1-2886-C9C5-94BD76D6606E}">
          <p14:sldIdLst>
            <p14:sldId id="256"/>
            <p14:sldId id="257"/>
          </p14:sldIdLst>
        </p14:section>
        <p14:section name="Arquitectura" id="{143A2D7E-9E38-7A58-1729-097632BD53BB}">
          <p14:sldIdLst>
            <p14:sldId id="258"/>
            <p14:sldId id="259"/>
          </p14:sldIdLst>
        </p14:section>
        <p14:section name="El patrón" id="{140D8BFE-C4A0-2E1A-D582-E2AF87520F70}">
          <p14:sldIdLst>
            <p14:sldId id="260"/>
            <p14:sldId id="261"/>
            <p14:sldId id="262"/>
          </p14:sldIdLst>
        </p14:section>
        <p14:section name="Código" id="{955508AE-D8E5-BCED-AAD2-29FCAF12FAD6}">
          <p14:sldIdLst>
            <p14:sldId id="263"/>
            <p14:sldId id="264"/>
            <p14:sldId id="265"/>
          </p14:sldIdLst>
        </p14:section>
        <p14:section name="Mediciones" id="{B86BCFD4-0F3B-8EA4-66E9-1F35DC3D678A}">
          <p14:sldIdLst>
            <p14:sldId id="266"/>
            <p14:sldId id="267"/>
          </p14:sldIdLst>
        </p14:section>
        <p14:section name="Demostración" id="{D91A185A-805F-EDD2-39A1-95F5FEC590D2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lang="es-ES" sz="1400" b="0" i="0" u="none" strike="noStrike">
                <a:solidFill>
                  <a:srgbClr val="1B1F2A"/>
                </a:solidFill>
                <a:latin typeface="+mn-lt"/>
              </a:rPr>
              <a:t>Tiempo medio por carga del dashboard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 (ms)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3E-4CA2-95D8-88B88F7E6A2F}"/>
              </c:ext>
            </c:extLst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3E-4CA2-95D8-88B88F7E6A2F}"/>
              </c:ext>
            </c:extLst>
          </c:dPt>
          <c:dPt>
            <c:idx val="2"/>
            <c:invertIfNegative val="0"/>
            <c:bubble3D val="0"/>
            <c:spPr>
              <a:solidFill>
                <a:srgbClr val="C241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3E-4CA2-95D8-88B88F7E6A2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 Facade
(1 petición)</c:v>
                </c:pt>
                <c:pt idx="1">
                  <c:v>Sin Facade
en paralelo (4)</c:v>
                </c:pt>
                <c:pt idx="2">
                  <c:v>Sin Facade
en serie (4)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19.899999999999999</c:v>
                </c:pt>
                <c:pt idx="1">
                  <c:v>26.9</c:v>
                </c:pt>
                <c:pt idx="2">
                  <c:v>61.4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3E-4CA2-95D8-88B88F7E6A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5DD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lang="es-ES" sz="1400" b="0" i="0" u="none" strike="noStrike">
                <a:solidFill>
                  <a:srgbClr val="1B1F2A"/>
                </a:solidFill>
                <a:latin typeface="+mn-lt"/>
              </a:rPr>
              <a:t>Tiempo medio por carga del dashboard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 (ms)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89-4B28-B039-2A92F1B396B5}"/>
              </c:ext>
            </c:extLst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89-4B28-B039-2A92F1B396B5}"/>
              </c:ext>
            </c:extLst>
          </c:dPt>
          <c:dPt>
            <c:idx val="2"/>
            <c:invertIfNegative val="0"/>
            <c:bubble3D val="0"/>
            <c:spPr>
              <a:solidFill>
                <a:srgbClr val="C241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89-4B28-B039-2A92F1B396B5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B1F2A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 Facade
(1 petición)</c:v>
                </c:pt>
                <c:pt idx="1">
                  <c:v>Sin Facade
en paralelo (4)</c:v>
                </c:pt>
                <c:pt idx="2">
                  <c:v>Sin Facade
en serie (4)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69.900000000000006</c:v>
                </c:pt>
                <c:pt idx="1">
                  <c:v>75.099999999999994</c:v>
                </c:pt>
                <c:pt idx="2">
                  <c:v>276.2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89-4B28-B039-2A92F1B396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5DD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890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patrón Facade aplicado en el proyecto HotelPatrones. Se verá el problema, la solución, el diagrama, el código antes y después, las mediciones de tiempo y una demostración del sistema funcionando con y sin el patrón.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Problema: el dashboard del administrador muestra clientes, habitaciones ocupadas, productos con bajo stock y los más consumidos. Esos datos viven en tres microservicios distintos. Sin Facade el navegador tiene que conocer cada uno, hacer cuatro peticiones y combinar los resultados. El qué: Facade es un patrón estructural que da una interfaz simple a un subsistema complejo. El cómo: la fachada vive en el api-gateway y el frontend hace una sola petición.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Visión general. El frontend React solo conoce al api-gateway en el puerto 3000. El gateway reparte las rutas por prefijo a seis microservicios y, para el dashboard, no es un simple proxy: aquí vive la Facade. Cada servicio tiene su propia base de datos Mongo y se comunican entre sí por eventos en RabbitMQ.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corta a la pregunta de qué arquitectura es: no es MVC ni MVVM puros. Es una arquitectura de microservicios; dentro de cada servicio hay capas (Routes, Validators, Controllers, Services, Repositories, Models), que se parecen a MVC sin vistas. El frontend es una SPA de React con componentes, hooks y una capa de servicios. Si el profesor insiste en una etiqueta: backend en capas tipo MVC, frontend basado en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 del patrón. Cliente: Dashboard.tsx. Fachada: DashboardFacade, que expone un único método getStats. Subsistemas: tres clientes HTTP, uno por servicio, que solo saben pedir sus datos y no saben que existe un dashboard. Al final, los microservicios. El cliente depende solo de la fachada; si mañana se agrega un cuarto servicio, solo cambia la fachada.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completo. Los pasos 3 y 5 (resaltados en ámbar) son el trabajo que la fachada le ahorra al cliente: lanzar las consultas y combinar los resultados. Detalle importante de diseño: se usa Promise.allSettled en lugar de Promise.all, así que si un microservicio está caído el dashboard responde igual con lo que sí obtuvo y deja el motivo en una lista de warnings.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patrón, en otro nivel. Hablar con RabbitMQ exige coordinar conexión, canal, exchange, serialización, colas, bindings y ack/nack. Antes cada publisher y cada consumer repetía ese trabajo con amqplib. Ahora BrokerFacade ofrece tres métodos y delega en tres clases del subsistema. El resto del servicio ya no importa amqplib.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Izquierda: el código real de la variante sin Facade, la misma que se activa con el botón Sin Facade en la demo. El navegador conoce cuatro rutas, las combina y repite el umbral de bajo stock. Derecha: con Facade el frontend hace una llamada y recibe el objeto listo.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ve la fachada por dentro. En server.js se construye con sus tres clientes y se expone un solo endpoint. En dashboard.facade.js, getStats lanza las cuatro consultas con Promise.allSettled y combina. Es un extracto; el archivo completo está en api-gateway/src/facades.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antes y después es código real del historial de git del proyecto: el commit 704bec8 tenía el publisher hablando directo con amqplib, y el commit fb69299 introdujo BrokerFacade. El publisher pasó de unas veinte líneas a una llamada.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Medición real contra el sistema levantado con docker compose. Se comparan tres variantes: con Facade (1 petición), sin Facade con las cuatro peticiones en paralelo (lo mejor que puede hacer el navegador) y sin Facade en serie (código ingenuo con await uno tras otro). En localhost la red no cuesta casi nada, así que la ventaja contra el paralelo es moderada; contra el código en serie es grande. Ser honestos con esto: la Facade no hace magia, ahorra viajes de red y mueve el trabajo a la red interna del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experimento, pero simulando 50 ms de ida y vuelta entre el navegador y el gateway por cada petición. Es una simulación, no una medición de red real, y hay que decirlo así. Con red, en paralelo la diferencia contra la Facade es pequeña porque las cuatro peticiones se solapan; en serie, cada petición paga la latencia completa y la Facade gana por mucho. El dato clave: la Facade siempre paga una sola ida y vuelta, sin importar cuántos servicios haya detrás.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VIVO. 1) Con el sistema levantado (docker compose up --build), abrir http://localhost:5173 y entrar con admin / admin123. 2) En el Dashboard está el selector Con Facade / Sin Facade y, a su lado, el contador de peticiones y el tiempo. 3) Con Facade: 1 petición. Abrir las herramientas de desarrollador (F12), pestaña Red, y mostrar que solo aparece /api/dashboard/stats. 4) Pulsar Sin Facade: aparecen 4 peticiones (rooms, inventory, top-consumed, clients) y el tiempo sube. 5) Extra: en Recepción iniciar una habitación para mostrar que el dashboard cambia. Las capturas de esta diapositiva son de una carga real; el tiempo de una sola carga varía, por eso las mediciones formales están en las dos diapositivas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Facade simplifica al cliente: una llamada en lugar de cuatro, la lógica de combinación en un solo lugar y un cambio de backend que no toca el frontend. Los números son los medidos en este proyecto. Y, para ser honestos, el patrón tiene costos: la fachada puede inflarse y el gateway es un punto único de falla; aquí se mitiga con subsistemas pequeños y respuestas parciales.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HotelPatrones · Patrón Facade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bg1"/>
                </a:solidFill>
              </a:rPr>
              <a:t>Patrón Facade en HotelPatrones</a:t>
            </a:r>
            <a:endParaRPr lang="en-US" sz="5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82296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Cómo simplificamos el dashboard y la mensajería en un sistema de microservicios</a:t>
            </a:r>
            <a:endParaRPr lang="en-US" sz="2200" dirty="0"/>
          </a:p>
        </p:txBody>
      </p:sp>
      <p:sp>
        <p:nvSpPr>
          <p:cNvPr id="4" name="Pie de portada"/>
          <p:cNvSpPr txBox="1"/>
          <p:nvPr/>
        </p:nvSpPr>
        <p:spPr>
          <a:xfrm>
            <a:off x="822960" y="4937760"/>
            <a:ext cx="10058400" cy="145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Joham Osorio</a:t>
            </a: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Ederson </a:t>
            </a:r>
            <a:br>
              <a:rPr lang="en-US" sz="1400" dirty="0">
                <a:solidFill>
                  <a:schemeClr val="accent2"/>
                </a:solidFill>
              </a:rPr>
            </a:br>
            <a:br>
              <a:rPr lang="en-US" sz="1400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2"/>
                </a:solidFill>
              </a:rPr>
              <a:t>Sistema de </a:t>
            </a:r>
            <a:r>
              <a:rPr lang="en-US" sz="1400" dirty="0" err="1">
                <a:solidFill>
                  <a:schemeClr val="accent2"/>
                </a:solidFill>
              </a:rPr>
              <a:t>gestión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dirty="0" err="1">
                <a:solidFill>
                  <a:schemeClr val="accent2"/>
                </a:solidFill>
              </a:rPr>
              <a:t>hotelera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El problema, el qué y el cómo</a:t>
            </a:r>
            <a:endParaRPr lang="en-US" sz="3000" dirty="0"/>
          </a:p>
        </p:txBody>
      </p:sp>
      <p:sp>
        <p:nvSpPr>
          <p:cNvPr id="3" name="Tarjeta EL PROBLEMA 1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írculo icono 2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o 3" descr="Icono decorativ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" y="1954987"/>
            <a:ext cx="341986" cy="341986"/>
          </a:xfrm>
          <a:prstGeom prst="rect">
            <a:avLst/>
          </a:prstGeom>
        </p:spPr>
      </p:pic>
      <p:sp>
        <p:nvSpPr>
          <p:cNvPr id="6" name="Encabezado 4"/>
          <p:cNvSpPr txBox="1"/>
          <p:nvPr/>
        </p:nvSpPr>
        <p:spPr>
          <a:xfrm>
            <a:off x="173736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 PROBLEMA</a:t>
            </a:r>
            <a:endParaRPr lang="en-US" sz="2000" dirty="0"/>
          </a:p>
        </p:txBody>
      </p:sp>
      <p:sp>
        <p:nvSpPr>
          <p:cNvPr id="7" name="Lista 5"/>
          <p:cNvSpPr txBox="1"/>
          <p:nvPr/>
        </p:nvSpPr>
        <p:spPr>
          <a:xfrm>
            <a:off x="822960" y="274320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dashboard necesita datos de 3 microservicios: rooms, products y clients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 Facade, el navegador conoce cada servicio y hace 4 peticiones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regla de “bajo stock” se repite en el frontend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 un servicio falla, falla todo el dashboard</a:t>
            </a:r>
            <a:endParaRPr lang="en-US" sz="1600" dirty="0"/>
          </a:p>
        </p:txBody>
      </p:sp>
      <p:sp>
        <p:nvSpPr>
          <p:cNvPr id="8" name="Tarjeta EL QUÉ 6"/>
          <p:cNvSpPr/>
          <p:nvPr/>
        </p:nvSpPr>
        <p:spPr>
          <a:xfrm>
            <a:off x="434340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írculo icono 7"/>
          <p:cNvSpPr/>
          <p:nvPr/>
        </p:nvSpPr>
        <p:spPr>
          <a:xfrm>
            <a:off x="4617720" y="173736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o 8" descr="Icono decorativ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347" y="1954987"/>
            <a:ext cx="341986" cy="341986"/>
          </a:xfrm>
          <a:prstGeom prst="rect">
            <a:avLst/>
          </a:prstGeom>
        </p:spPr>
      </p:pic>
      <p:sp>
        <p:nvSpPr>
          <p:cNvPr id="11" name="Encabezado 9"/>
          <p:cNvSpPr txBox="1"/>
          <p:nvPr/>
        </p:nvSpPr>
        <p:spPr>
          <a:xfrm>
            <a:off x="553212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 QUÉ</a:t>
            </a:r>
            <a:endParaRPr lang="en-US" sz="2000" dirty="0"/>
          </a:p>
        </p:txBody>
      </p:sp>
      <p:sp>
        <p:nvSpPr>
          <p:cNvPr id="12" name="Lista 10"/>
          <p:cNvSpPr txBox="1"/>
          <p:nvPr/>
        </p:nvSpPr>
        <p:spPr>
          <a:xfrm>
            <a:off x="4617720" y="274320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Facade: patrón estructural del catálogo GoF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Ofrece una interfaz simple y unificada sobre un conjunto de clases complejas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cliente habla solo con la fachada y no conoce el subsistema</a:t>
            </a:r>
            <a:endParaRPr lang="en-US" sz="1600" dirty="0"/>
          </a:p>
        </p:txBody>
      </p:sp>
      <p:sp>
        <p:nvSpPr>
          <p:cNvPr id="13" name="Tarjeta EL CÓMO 11"/>
          <p:cNvSpPr/>
          <p:nvPr/>
        </p:nvSpPr>
        <p:spPr>
          <a:xfrm>
            <a:off x="8138160" y="146304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írculo icono 12"/>
          <p:cNvSpPr/>
          <p:nvPr/>
        </p:nvSpPr>
        <p:spPr>
          <a:xfrm>
            <a:off x="8412480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o 13" descr="Icono decorativ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0107" y="1954987"/>
            <a:ext cx="341986" cy="341986"/>
          </a:xfrm>
          <a:prstGeom prst="rect">
            <a:avLst/>
          </a:prstGeom>
        </p:spPr>
      </p:pic>
      <p:sp>
        <p:nvSpPr>
          <p:cNvPr id="16" name="Encabezado 14"/>
          <p:cNvSpPr txBox="1"/>
          <p:nvPr/>
        </p:nvSpPr>
        <p:spPr>
          <a:xfrm>
            <a:off x="9326880" y="1737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 CÓMO</a:t>
            </a:r>
            <a:endParaRPr lang="en-US" sz="2000" dirty="0"/>
          </a:p>
        </p:txBody>
      </p:sp>
      <p:sp>
        <p:nvSpPr>
          <p:cNvPr id="17" name="Lista 15"/>
          <p:cNvSpPr txBox="1"/>
          <p:nvPr/>
        </p:nvSpPr>
        <p:spPr>
          <a:xfrm>
            <a:off x="8412480" y="274320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DashboardFacade en el api-gateway: una sola petición, GET /api/dashboard/stats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Consulta rooms, products y clients en paralelo, combina y responde un JSON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Mismo patrón en el broker: BrokerFacade oculta amqplib (RabbitMQ)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Cómo está construido: microservicios detrás de un gateway</a:t>
            </a:r>
            <a:endParaRPr lang="en-US" sz="3000" dirty="0"/>
          </a:p>
        </p:txBody>
      </p:sp>
      <p:sp>
        <p:nvSpPr>
          <p:cNvPr id="3" name="Frontend 16"/>
          <p:cNvSpPr/>
          <p:nvPr/>
        </p:nvSpPr>
        <p:spPr>
          <a:xfrm>
            <a:off x="548640" y="283464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Frontend texto 17"/>
          <p:cNvSpPr txBox="1"/>
          <p:nvPr/>
        </p:nvSpPr>
        <p:spPr>
          <a:xfrm>
            <a:off x="640080" y="283464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Frontend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React + Vite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:5173</a:t>
            </a:r>
            <a:endParaRPr lang="en-US" sz="1800" dirty="0"/>
          </a:p>
        </p:txBody>
      </p:sp>
      <p:sp>
        <p:nvSpPr>
          <p:cNvPr id="5" name="Gateway 18"/>
          <p:cNvSpPr/>
          <p:nvPr/>
        </p:nvSpPr>
        <p:spPr>
          <a:xfrm>
            <a:off x="3383280" y="2651760"/>
            <a:ext cx="2468880" cy="192024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ateway texto 19"/>
          <p:cNvSpPr txBox="1"/>
          <p:nvPr/>
        </p:nvSpPr>
        <p:spPr>
          <a:xfrm>
            <a:off x="3474720" y="26517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API Gateway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proxy por prefijo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+ DashboardFacade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:3000</a:t>
            </a:r>
            <a:endParaRPr lang="en-US" sz="1800" dirty="0"/>
          </a:p>
        </p:txBody>
      </p:sp>
      <p:sp>
        <p:nvSpPr>
          <p:cNvPr id="7" name="Servicio auth 20"/>
          <p:cNvSpPr/>
          <p:nvPr/>
        </p:nvSpPr>
        <p:spPr>
          <a:xfrm>
            <a:off x="658368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ervicio auth texto 21"/>
          <p:cNvSpPr txBox="1"/>
          <p:nvPr/>
        </p:nvSpPr>
        <p:spPr>
          <a:xfrm>
            <a:off x="6675120" y="16459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auth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:3010</a:t>
            </a:r>
            <a:endParaRPr lang="en-US" sz="1400" dirty="0"/>
          </a:p>
        </p:txBody>
      </p:sp>
      <p:sp>
        <p:nvSpPr>
          <p:cNvPr id="9" name="Servicio rooms 22"/>
          <p:cNvSpPr/>
          <p:nvPr/>
        </p:nvSpPr>
        <p:spPr>
          <a:xfrm>
            <a:off x="8183880" y="164592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ervicio rooms texto 23"/>
          <p:cNvSpPr txBox="1"/>
          <p:nvPr/>
        </p:nvSpPr>
        <p:spPr>
          <a:xfrm>
            <a:off x="8275320" y="16459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rooms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:3001</a:t>
            </a:r>
            <a:endParaRPr lang="en-US" sz="1400" dirty="0"/>
          </a:p>
        </p:txBody>
      </p:sp>
      <p:sp>
        <p:nvSpPr>
          <p:cNvPr id="11" name="Servicio reservations 24"/>
          <p:cNvSpPr/>
          <p:nvPr/>
        </p:nvSpPr>
        <p:spPr>
          <a:xfrm>
            <a:off x="6583680" y="301752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ervicio reservations texto 25"/>
          <p:cNvSpPr txBox="1"/>
          <p:nvPr/>
        </p:nvSpPr>
        <p:spPr>
          <a:xfrm>
            <a:off x="6675120" y="30175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reservations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:3002</a:t>
            </a:r>
            <a:endParaRPr lang="en-US" sz="1400" dirty="0"/>
          </a:p>
        </p:txBody>
      </p:sp>
      <p:sp>
        <p:nvSpPr>
          <p:cNvPr id="13" name="Servicio products 26"/>
          <p:cNvSpPr/>
          <p:nvPr/>
        </p:nvSpPr>
        <p:spPr>
          <a:xfrm>
            <a:off x="8183880" y="301752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ervicio products texto 27"/>
          <p:cNvSpPr txBox="1"/>
          <p:nvPr/>
        </p:nvSpPr>
        <p:spPr>
          <a:xfrm>
            <a:off x="8275320" y="30175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:3003</a:t>
            </a:r>
            <a:endParaRPr lang="en-US" sz="1400" dirty="0"/>
          </a:p>
        </p:txBody>
      </p:sp>
      <p:sp>
        <p:nvSpPr>
          <p:cNvPr id="15" name="Servicio clients 28"/>
          <p:cNvSpPr/>
          <p:nvPr/>
        </p:nvSpPr>
        <p:spPr>
          <a:xfrm>
            <a:off x="6583680" y="438912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ervicio clients texto 29"/>
          <p:cNvSpPr txBox="1"/>
          <p:nvPr/>
        </p:nvSpPr>
        <p:spPr>
          <a:xfrm>
            <a:off x="6675120" y="43891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:3004</a:t>
            </a:r>
            <a:endParaRPr lang="en-US" sz="1400" dirty="0"/>
          </a:p>
        </p:txBody>
      </p:sp>
      <p:sp>
        <p:nvSpPr>
          <p:cNvPr id="17" name="Servicio stays 30"/>
          <p:cNvSpPr/>
          <p:nvPr/>
        </p:nvSpPr>
        <p:spPr>
          <a:xfrm>
            <a:off x="8183880" y="4389120"/>
            <a:ext cx="14630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ervicio stays texto 31"/>
          <p:cNvSpPr txBox="1"/>
          <p:nvPr/>
        </p:nvSpPr>
        <p:spPr>
          <a:xfrm>
            <a:off x="8275320" y="43891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stays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:3005</a:t>
            </a:r>
            <a:endParaRPr lang="en-US" sz="1400" dirty="0"/>
          </a:p>
        </p:txBody>
      </p:sp>
      <p:sp>
        <p:nvSpPr>
          <p:cNvPr id="19" name="MongoDB 32"/>
          <p:cNvSpPr/>
          <p:nvPr/>
        </p:nvSpPr>
        <p:spPr>
          <a:xfrm>
            <a:off x="9966960" y="1645920"/>
            <a:ext cx="1691640" cy="18288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MongoDB texto 33"/>
          <p:cNvSpPr txBox="1"/>
          <p:nvPr/>
        </p:nvSpPr>
        <p:spPr>
          <a:xfrm>
            <a:off x="10058400" y="1645920"/>
            <a:ext cx="1508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MongoDB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una base de datos por servicio</a:t>
            </a:r>
            <a:endParaRPr lang="en-US" sz="1600" dirty="0"/>
          </a:p>
        </p:txBody>
      </p:sp>
      <p:sp>
        <p:nvSpPr>
          <p:cNvPr id="21" name="RabbitMQ 34"/>
          <p:cNvSpPr/>
          <p:nvPr/>
        </p:nvSpPr>
        <p:spPr>
          <a:xfrm>
            <a:off x="9966960" y="3749040"/>
            <a:ext cx="1691640" cy="20116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RabbitMQ texto 35"/>
          <p:cNvSpPr txBox="1"/>
          <p:nvPr/>
        </p:nvSpPr>
        <p:spPr>
          <a:xfrm>
            <a:off x="10058400" y="374904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RabbitMQ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exchange hotel_events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(eventos)</a:t>
            </a:r>
            <a:endParaRPr lang="en-US" sz="1600" dirty="0"/>
          </a:p>
        </p:txBody>
      </p:sp>
      <p:sp>
        <p:nvSpPr>
          <p:cNvPr id="23" name="Flecha 36"/>
          <p:cNvSpPr/>
          <p:nvPr/>
        </p:nvSpPr>
        <p:spPr>
          <a:xfrm>
            <a:off x="2651760" y="3611880"/>
            <a:ext cx="7315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Flecha 37"/>
          <p:cNvSpPr/>
          <p:nvPr/>
        </p:nvSpPr>
        <p:spPr>
          <a:xfrm>
            <a:off x="5852160" y="3611880"/>
            <a:ext cx="7315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Flecha 38"/>
          <p:cNvSpPr/>
          <p:nvPr/>
        </p:nvSpPr>
        <p:spPr>
          <a:xfrm>
            <a:off x="9665208" y="256032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Flecha 39"/>
          <p:cNvSpPr/>
          <p:nvPr/>
        </p:nvSpPr>
        <p:spPr>
          <a:xfrm>
            <a:off x="9665208" y="45720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Conclusión de arquitectura"/>
          <p:cNvSpPr txBox="1"/>
          <p:nvPr/>
        </p:nvSpPr>
        <p:spPr>
          <a:xfrm>
            <a:off x="548640" y="5989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El navegador solo habla con el gateway. Cada servicio usa su MongoDB y se comunica con los demás por eventos.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¿MVC o MVVM? Ninguno puro: capas y componentes</a:t>
            </a:r>
            <a:endParaRPr lang="en-US" sz="3000" dirty="0"/>
          </a:p>
        </p:txBody>
      </p:sp>
      <p:sp>
        <p:nvSpPr>
          <p:cNvPr id="3" name="Tarjeta Backend: arquitectura en capas 40"/>
          <p:cNvSpPr/>
          <p:nvPr/>
        </p:nvSpPr>
        <p:spPr>
          <a:xfrm>
            <a:off x="548640" y="1463040"/>
            <a:ext cx="78638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 arquitectura 41"/>
          <p:cNvSpPr txBox="1"/>
          <p:nvPr/>
        </p:nvSpPr>
        <p:spPr>
          <a:xfrm>
            <a:off x="822960" y="14630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Backend: arquitectura en capas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Cada microservicio separa Controller, Service, Repository y Model. Se parece a MVC sin vistas; Service y Repository son las capas extra.</a:t>
            </a:r>
            <a:endParaRPr lang="en-US" sz="1700" dirty="0"/>
          </a:p>
        </p:txBody>
      </p:sp>
      <p:sp>
        <p:nvSpPr>
          <p:cNvPr id="5" name="Tarjeta Frontend: React, no MVVM puro 42"/>
          <p:cNvSpPr/>
          <p:nvPr/>
        </p:nvSpPr>
        <p:spPr>
          <a:xfrm>
            <a:off x="548640" y="3063240"/>
            <a:ext cx="78638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arquitectura 43"/>
          <p:cNvSpPr txBox="1"/>
          <p:nvPr/>
        </p:nvSpPr>
        <p:spPr>
          <a:xfrm>
            <a:off x="822960" y="30632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Frontend: React, no MVVM puro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Componentes con hooks y Context para la sesión, más una capa de services con axios. No hay ViewModel ni data-binding.</a:t>
            </a:r>
            <a:endParaRPr lang="en-US" sz="1700" dirty="0"/>
          </a:p>
        </p:txBody>
      </p:sp>
      <p:sp>
        <p:nvSpPr>
          <p:cNvPr id="7" name="Tarjeta Sistema: microservicios y eventos 44"/>
          <p:cNvSpPr/>
          <p:nvPr/>
        </p:nvSpPr>
        <p:spPr>
          <a:xfrm>
            <a:off x="548640" y="4663440"/>
            <a:ext cx="78638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arquitectura 45"/>
          <p:cNvSpPr txBox="1"/>
          <p:nvPr/>
        </p:nvSpPr>
        <p:spPr>
          <a:xfrm>
            <a:off x="822960" y="4663440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Sistema: microservicios y eventos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Gateway de entrada, una base de datos por servicio y RabbitMQ para que los servicios reaccionen sin conocerse.</a:t>
            </a:r>
            <a:endParaRPr lang="en-US" sz="1700" dirty="0"/>
          </a:p>
        </p:txBody>
      </p:sp>
      <p:sp>
        <p:nvSpPr>
          <p:cNvPr id="9" name="Título capas"/>
          <p:cNvSpPr txBox="1"/>
          <p:nvPr/>
        </p:nvSpPr>
        <p:spPr>
          <a:xfrm>
            <a:off x="896112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Capas de cada microservicio</a:t>
            </a:r>
            <a:endParaRPr lang="en-US" sz="1400" dirty="0"/>
          </a:p>
        </p:txBody>
      </p:sp>
      <p:sp>
        <p:nvSpPr>
          <p:cNvPr id="10" name="Capa Routes 46"/>
          <p:cNvSpPr/>
          <p:nvPr/>
        </p:nvSpPr>
        <p:spPr>
          <a:xfrm>
            <a:off x="8961120" y="1874520"/>
            <a:ext cx="265176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Capa Routes texto 47"/>
          <p:cNvSpPr txBox="1"/>
          <p:nvPr/>
        </p:nvSpPr>
        <p:spPr>
          <a:xfrm>
            <a:off x="905256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Routes</a:t>
            </a:r>
            <a:endParaRPr lang="en-US" sz="1400" dirty="0"/>
          </a:p>
        </p:txBody>
      </p:sp>
      <p:sp>
        <p:nvSpPr>
          <p:cNvPr id="12" name="Flecha 48"/>
          <p:cNvSpPr/>
          <p:nvPr/>
        </p:nvSpPr>
        <p:spPr>
          <a:xfrm>
            <a:off x="10287000" y="2377440"/>
            <a:ext cx="0" cy="210312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Capa Validators 49"/>
          <p:cNvSpPr/>
          <p:nvPr/>
        </p:nvSpPr>
        <p:spPr>
          <a:xfrm>
            <a:off x="8961120" y="2587752"/>
            <a:ext cx="265176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Capa Validators texto 50"/>
          <p:cNvSpPr txBox="1"/>
          <p:nvPr/>
        </p:nvSpPr>
        <p:spPr>
          <a:xfrm>
            <a:off x="9052560" y="2587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Validators</a:t>
            </a:r>
            <a:endParaRPr lang="en-US" sz="1400" dirty="0"/>
          </a:p>
        </p:txBody>
      </p:sp>
      <p:sp>
        <p:nvSpPr>
          <p:cNvPr id="15" name="Flecha 51"/>
          <p:cNvSpPr/>
          <p:nvPr/>
        </p:nvSpPr>
        <p:spPr>
          <a:xfrm>
            <a:off x="10287000" y="3090672"/>
            <a:ext cx="0" cy="210312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Capa Controllers 52"/>
          <p:cNvSpPr/>
          <p:nvPr/>
        </p:nvSpPr>
        <p:spPr>
          <a:xfrm>
            <a:off x="8961120" y="3300984"/>
            <a:ext cx="265176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Capa Controllers texto 53"/>
          <p:cNvSpPr txBox="1"/>
          <p:nvPr/>
        </p:nvSpPr>
        <p:spPr>
          <a:xfrm>
            <a:off x="9052560" y="33009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Controllers</a:t>
            </a:r>
            <a:endParaRPr lang="en-US" sz="1400" dirty="0"/>
          </a:p>
        </p:txBody>
      </p:sp>
      <p:sp>
        <p:nvSpPr>
          <p:cNvPr id="18" name="Flecha 54"/>
          <p:cNvSpPr/>
          <p:nvPr/>
        </p:nvSpPr>
        <p:spPr>
          <a:xfrm>
            <a:off x="10287000" y="3803904"/>
            <a:ext cx="0" cy="210312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Capa Services 55"/>
          <p:cNvSpPr/>
          <p:nvPr/>
        </p:nvSpPr>
        <p:spPr>
          <a:xfrm>
            <a:off x="8961120" y="4014216"/>
            <a:ext cx="265176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Capa Services texto 56"/>
          <p:cNvSpPr txBox="1"/>
          <p:nvPr/>
        </p:nvSpPr>
        <p:spPr>
          <a:xfrm>
            <a:off x="9052560" y="40142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Services</a:t>
            </a:r>
            <a:endParaRPr lang="en-US" sz="1400" dirty="0"/>
          </a:p>
        </p:txBody>
      </p:sp>
      <p:sp>
        <p:nvSpPr>
          <p:cNvPr id="21" name="Flecha 57"/>
          <p:cNvSpPr/>
          <p:nvPr/>
        </p:nvSpPr>
        <p:spPr>
          <a:xfrm>
            <a:off x="10287000" y="4517136"/>
            <a:ext cx="0" cy="210312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Capa Repositories 58"/>
          <p:cNvSpPr/>
          <p:nvPr/>
        </p:nvSpPr>
        <p:spPr>
          <a:xfrm>
            <a:off x="8961120" y="4727448"/>
            <a:ext cx="265176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Capa Repositories texto 59"/>
          <p:cNvSpPr txBox="1"/>
          <p:nvPr/>
        </p:nvSpPr>
        <p:spPr>
          <a:xfrm>
            <a:off x="9052560" y="4727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Repositories</a:t>
            </a:r>
            <a:endParaRPr lang="en-US" sz="1400" dirty="0"/>
          </a:p>
        </p:txBody>
      </p:sp>
      <p:sp>
        <p:nvSpPr>
          <p:cNvPr id="24" name="Flecha 60"/>
          <p:cNvSpPr/>
          <p:nvPr/>
        </p:nvSpPr>
        <p:spPr>
          <a:xfrm>
            <a:off x="10287000" y="5230368"/>
            <a:ext cx="0" cy="210312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Capa Models / DB 61"/>
          <p:cNvSpPr/>
          <p:nvPr/>
        </p:nvSpPr>
        <p:spPr>
          <a:xfrm>
            <a:off x="8961120" y="5440680"/>
            <a:ext cx="265176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Capa Models / DB texto 62"/>
          <p:cNvSpPr txBox="1"/>
          <p:nvPr/>
        </p:nvSpPr>
        <p:spPr>
          <a:xfrm>
            <a:off x="905256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Models / DB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Diagrama del patrón: DashboardFacade en el gateway</a:t>
            </a:r>
            <a:endParaRPr lang="en-US" sz="3000" dirty="0"/>
          </a:p>
        </p:txBody>
      </p:sp>
      <p:sp>
        <p:nvSpPr>
          <p:cNvPr id="3" name="Columna Cliente 63"/>
          <p:cNvSpPr txBox="1"/>
          <p:nvPr/>
        </p:nvSpPr>
        <p:spPr>
          <a:xfrm>
            <a:off x="54864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Cliente</a:t>
            </a:r>
            <a:endParaRPr lang="en-US" sz="1400" dirty="0"/>
          </a:p>
        </p:txBody>
      </p:sp>
      <p:sp>
        <p:nvSpPr>
          <p:cNvPr id="4" name="Columna Fachada 64"/>
          <p:cNvSpPr txBox="1"/>
          <p:nvPr/>
        </p:nvSpPr>
        <p:spPr>
          <a:xfrm>
            <a:off x="384048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Fachada</a:t>
            </a:r>
            <a:endParaRPr lang="en-US" sz="1400" dirty="0"/>
          </a:p>
        </p:txBody>
      </p:sp>
      <p:sp>
        <p:nvSpPr>
          <p:cNvPr id="5" name="Columna Subsistemas 65"/>
          <p:cNvSpPr txBox="1"/>
          <p:nvPr/>
        </p:nvSpPr>
        <p:spPr>
          <a:xfrm>
            <a:off x="768096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Subsistemas</a:t>
            </a:r>
            <a:endParaRPr lang="en-US" sz="1400" dirty="0"/>
          </a:p>
        </p:txBody>
      </p:sp>
      <p:sp>
        <p:nvSpPr>
          <p:cNvPr id="6" name="Columna Microservicios 66"/>
          <p:cNvSpPr txBox="1"/>
          <p:nvPr/>
        </p:nvSpPr>
        <p:spPr>
          <a:xfrm>
            <a:off x="1033272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Microservicios</a:t>
            </a:r>
            <a:endParaRPr lang="en-US" sz="1400" dirty="0"/>
          </a:p>
        </p:txBody>
      </p:sp>
      <p:sp>
        <p:nvSpPr>
          <p:cNvPr id="7" name="Cliente 67"/>
          <p:cNvSpPr/>
          <p:nvPr/>
        </p:nvSpPr>
        <p:spPr>
          <a:xfrm>
            <a:off x="548640" y="2971800"/>
            <a:ext cx="21945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liente texto 68"/>
          <p:cNvSpPr txBox="1"/>
          <p:nvPr/>
        </p:nvSpPr>
        <p:spPr>
          <a:xfrm>
            <a:off x="640080" y="2971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Dashboard.tsx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navegador</a:t>
            </a:r>
            <a:endParaRPr lang="en-US" sz="1600" dirty="0"/>
          </a:p>
        </p:txBody>
      </p:sp>
      <p:sp>
        <p:nvSpPr>
          <p:cNvPr id="9" name="Fachada 69"/>
          <p:cNvSpPr/>
          <p:nvPr/>
        </p:nvSpPr>
        <p:spPr>
          <a:xfrm>
            <a:off x="3840480" y="2606040"/>
            <a:ext cx="2926080" cy="192024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achada texto 70"/>
          <p:cNvSpPr txBox="1"/>
          <p:nvPr/>
        </p:nvSpPr>
        <p:spPr>
          <a:xfrm>
            <a:off x="3931920" y="26060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DashboardFacade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getStats(auth)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api-gateway</a:t>
            </a:r>
            <a:endParaRPr lang="en-US" sz="1800" dirty="0"/>
          </a:p>
        </p:txBody>
      </p:sp>
      <p:sp>
        <p:nvSpPr>
          <p:cNvPr id="11" name="RoomsClient 71"/>
          <p:cNvSpPr/>
          <p:nvPr/>
        </p:nvSpPr>
        <p:spPr>
          <a:xfrm>
            <a:off x="7680960" y="173736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RoomsClient texto 72"/>
          <p:cNvSpPr txBox="1"/>
          <p:nvPr/>
        </p:nvSpPr>
        <p:spPr>
          <a:xfrm>
            <a:off x="777240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RoomsClient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fetchRooms()</a:t>
            </a:r>
            <a:endParaRPr lang="en-US" sz="1400" dirty="0"/>
          </a:p>
        </p:txBody>
      </p:sp>
      <p:sp>
        <p:nvSpPr>
          <p:cNvPr id="13" name="ProductsClient 73"/>
          <p:cNvSpPr/>
          <p:nvPr/>
        </p:nvSpPr>
        <p:spPr>
          <a:xfrm>
            <a:off x="7680960" y="301752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roductsClient texto 74"/>
          <p:cNvSpPr txBox="1"/>
          <p:nvPr/>
        </p:nvSpPr>
        <p:spPr>
          <a:xfrm>
            <a:off x="7772400" y="30175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ProductsClient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fetchInventory()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fetchTopConsumed()</a:t>
            </a:r>
            <a:endParaRPr lang="en-US" sz="1400" dirty="0"/>
          </a:p>
        </p:txBody>
      </p:sp>
      <p:sp>
        <p:nvSpPr>
          <p:cNvPr id="15" name="ClientsClient 75"/>
          <p:cNvSpPr/>
          <p:nvPr/>
        </p:nvSpPr>
        <p:spPr>
          <a:xfrm>
            <a:off x="7680960" y="457200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lientsClient texto 76"/>
          <p:cNvSpPr txBox="1"/>
          <p:nvPr/>
        </p:nvSpPr>
        <p:spPr>
          <a:xfrm>
            <a:off x="7772400" y="4572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ClientsClient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fetchClients()</a:t>
            </a:r>
            <a:endParaRPr lang="en-US" sz="1400" dirty="0"/>
          </a:p>
        </p:txBody>
      </p:sp>
      <p:sp>
        <p:nvSpPr>
          <p:cNvPr id="17" name="rooms-service 77"/>
          <p:cNvSpPr/>
          <p:nvPr/>
        </p:nvSpPr>
        <p:spPr>
          <a:xfrm>
            <a:off x="10332720" y="1737360"/>
            <a:ext cx="1325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rooms-service texto 78"/>
          <p:cNvSpPr txBox="1"/>
          <p:nvPr/>
        </p:nvSpPr>
        <p:spPr>
          <a:xfrm>
            <a:off x="10424160" y="173736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rooms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service</a:t>
            </a:r>
            <a:endParaRPr lang="en-US" sz="1400" dirty="0"/>
          </a:p>
        </p:txBody>
      </p:sp>
      <p:sp>
        <p:nvSpPr>
          <p:cNvPr id="19" name="products-service 79"/>
          <p:cNvSpPr/>
          <p:nvPr/>
        </p:nvSpPr>
        <p:spPr>
          <a:xfrm>
            <a:off x="10332720" y="3017520"/>
            <a:ext cx="1325880" cy="137160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roducts-service texto 80"/>
          <p:cNvSpPr txBox="1"/>
          <p:nvPr/>
        </p:nvSpPr>
        <p:spPr>
          <a:xfrm>
            <a:off x="10424160" y="3017520"/>
            <a:ext cx="1143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service</a:t>
            </a:r>
            <a:endParaRPr lang="en-US" sz="1400" dirty="0"/>
          </a:p>
        </p:txBody>
      </p:sp>
      <p:sp>
        <p:nvSpPr>
          <p:cNvPr id="21" name="clients-service 81"/>
          <p:cNvSpPr/>
          <p:nvPr/>
        </p:nvSpPr>
        <p:spPr>
          <a:xfrm>
            <a:off x="10332720" y="4572000"/>
            <a:ext cx="1325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lients-service texto 82"/>
          <p:cNvSpPr txBox="1"/>
          <p:nvPr/>
        </p:nvSpPr>
        <p:spPr>
          <a:xfrm>
            <a:off x="10424160" y="457200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service</a:t>
            </a:r>
            <a:endParaRPr lang="en-US" sz="1400" dirty="0"/>
          </a:p>
        </p:txBody>
      </p:sp>
      <p:sp>
        <p:nvSpPr>
          <p:cNvPr id="23" name="Flecha 83"/>
          <p:cNvSpPr/>
          <p:nvPr/>
        </p:nvSpPr>
        <p:spPr>
          <a:xfrm>
            <a:off x="2743200" y="3566160"/>
            <a:ext cx="10972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Flecha 84"/>
          <p:cNvSpPr/>
          <p:nvPr/>
        </p:nvSpPr>
        <p:spPr>
          <a:xfrm flipV="1">
            <a:off x="6766560" y="2286000"/>
            <a:ext cx="914400" cy="12801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Flecha 85"/>
          <p:cNvSpPr/>
          <p:nvPr/>
        </p:nvSpPr>
        <p:spPr>
          <a:xfrm>
            <a:off x="6766560" y="3566160"/>
            <a:ext cx="9144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Flecha 86"/>
          <p:cNvSpPr/>
          <p:nvPr/>
        </p:nvSpPr>
        <p:spPr>
          <a:xfrm>
            <a:off x="6766560" y="3566160"/>
            <a:ext cx="914400" cy="15544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Flecha 87"/>
          <p:cNvSpPr/>
          <p:nvPr/>
        </p:nvSpPr>
        <p:spPr>
          <a:xfrm>
            <a:off x="9875520" y="2286000"/>
            <a:ext cx="4572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Flecha 88"/>
          <p:cNvSpPr/>
          <p:nvPr/>
        </p:nvSpPr>
        <p:spPr>
          <a:xfrm>
            <a:off x="9875520" y="3703320"/>
            <a:ext cx="4572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Flecha 89"/>
          <p:cNvSpPr/>
          <p:nvPr/>
        </p:nvSpPr>
        <p:spPr>
          <a:xfrm>
            <a:off x="9875520" y="5120640"/>
            <a:ext cx="4572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Pie del diagrama"/>
          <p:cNvSpPr txBox="1"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Una petición entra; tres consultas salen. El cliente nunca ve la parte derecha del diagrama.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Paso a paso: qué ocurre al abrir el dashboard</a:t>
            </a:r>
            <a:endParaRPr lang="en-US" sz="3000" dirty="0"/>
          </a:p>
        </p:txBody>
      </p:sp>
      <p:sp>
        <p:nvSpPr>
          <p:cNvPr id="3" name="Paso 1 90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úmero 91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úmero texto 92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Paso título 93"/>
          <p:cNvSpPr txBox="1"/>
          <p:nvPr/>
        </p:nvSpPr>
        <p:spPr>
          <a:xfrm>
            <a:off x="150876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 navegador pide</a:t>
            </a:r>
            <a:endParaRPr lang="en-US" sz="1700" dirty="0"/>
          </a:p>
        </p:txBody>
      </p:sp>
      <p:sp>
        <p:nvSpPr>
          <p:cNvPr id="7" name="Paso texto 94"/>
          <p:cNvSpPr txBox="1"/>
          <p:nvPr/>
        </p:nvSpPr>
        <p:spPr>
          <a:xfrm>
            <a:off x="777240" y="23774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GET /api/dashboard/stats. Una sola petición, con el token del usuario.</a:t>
            </a:r>
            <a:endParaRPr lang="en-US" sz="1600" dirty="0"/>
          </a:p>
        </p:txBody>
      </p:sp>
      <p:sp>
        <p:nvSpPr>
          <p:cNvPr id="8" name="Paso 2 95"/>
          <p:cNvSpPr/>
          <p:nvPr/>
        </p:nvSpPr>
        <p:spPr>
          <a:xfrm>
            <a:off x="434340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 96"/>
          <p:cNvSpPr/>
          <p:nvPr/>
        </p:nvSpPr>
        <p:spPr>
          <a:xfrm>
            <a:off x="457200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úmero texto 97"/>
          <p:cNvSpPr txBox="1"/>
          <p:nvPr/>
        </p:nvSpPr>
        <p:spPr>
          <a:xfrm>
            <a:off x="45720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Paso título 98"/>
          <p:cNvSpPr txBox="1"/>
          <p:nvPr/>
        </p:nvSpPr>
        <p:spPr>
          <a:xfrm>
            <a:off x="530352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 gateway la recibe</a:t>
            </a:r>
            <a:endParaRPr lang="en-US" sz="1700" dirty="0"/>
          </a:p>
        </p:txBody>
      </p:sp>
      <p:sp>
        <p:nvSpPr>
          <p:cNvPr id="12" name="Paso texto 99"/>
          <p:cNvSpPr txBox="1"/>
          <p:nvPr/>
        </p:nvSpPr>
        <p:spPr>
          <a:xfrm>
            <a:off x="4572000" y="23774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Esa ruta no se reenvía: se la entrega a DashboardFacade.getStats().</a:t>
            </a:r>
            <a:endParaRPr lang="en-US" sz="1600" dirty="0"/>
          </a:p>
        </p:txBody>
      </p:sp>
      <p:sp>
        <p:nvSpPr>
          <p:cNvPr id="13" name="Paso 3 100"/>
          <p:cNvSpPr/>
          <p:nvPr/>
        </p:nvSpPr>
        <p:spPr>
          <a:xfrm>
            <a:off x="813816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 101"/>
          <p:cNvSpPr/>
          <p:nvPr/>
        </p:nvSpPr>
        <p:spPr>
          <a:xfrm>
            <a:off x="8366760" y="1691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úmero texto 102"/>
          <p:cNvSpPr txBox="1"/>
          <p:nvPr/>
        </p:nvSpPr>
        <p:spPr>
          <a:xfrm>
            <a:off x="8366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Paso título 103"/>
          <p:cNvSpPr txBox="1"/>
          <p:nvPr/>
        </p:nvSpPr>
        <p:spPr>
          <a:xfrm>
            <a:off x="909828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 fachada fan-out</a:t>
            </a:r>
            <a:endParaRPr lang="en-US" sz="1700" dirty="0"/>
          </a:p>
        </p:txBody>
      </p:sp>
      <p:sp>
        <p:nvSpPr>
          <p:cNvPr id="17" name="Paso texto 104"/>
          <p:cNvSpPr txBox="1"/>
          <p:nvPr/>
        </p:nvSpPr>
        <p:spPr>
          <a:xfrm>
            <a:off x="8366760" y="23774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Lanza 4 consultas en paralelo con Promise.allSettled a través de sus clientes.</a:t>
            </a:r>
            <a:endParaRPr lang="en-US" sz="1600" dirty="0"/>
          </a:p>
        </p:txBody>
      </p:sp>
      <p:sp>
        <p:nvSpPr>
          <p:cNvPr id="18" name="Paso 4 105"/>
          <p:cNvSpPr/>
          <p:nvPr/>
        </p:nvSpPr>
        <p:spPr>
          <a:xfrm>
            <a:off x="548640" y="38862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úmero 106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úmero texto 107"/>
          <p:cNvSpPr txBox="1"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Paso título 108"/>
          <p:cNvSpPr txBox="1"/>
          <p:nvPr/>
        </p:nvSpPr>
        <p:spPr>
          <a:xfrm>
            <a:off x="150876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Cada cliente hace lo suyo</a:t>
            </a:r>
            <a:endParaRPr lang="en-US" sz="1700" dirty="0"/>
          </a:p>
        </p:txBody>
      </p:sp>
      <p:sp>
        <p:nvSpPr>
          <p:cNvPr id="22" name="Paso texto 109"/>
          <p:cNvSpPr txBox="1"/>
          <p:nvPr/>
        </p:nvSpPr>
        <p:spPr>
          <a:xfrm>
            <a:off x="777240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RoomsClient, ProductsClient y ClientsClient piden su dato y nada más.</a:t>
            </a:r>
            <a:endParaRPr lang="en-US" sz="1600" dirty="0"/>
          </a:p>
        </p:txBody>
      </p:sp>
      <p:sp>
        <p:nvSpPr>
          <p:cNvPr id="23" name="Paso 5 110"/>
          <p:cNvSpPr/>
          <p:nvPr/>
        </p:nvSpPr>
        <p:spPr>
          <a:xfrm>
            <a:off x="4343400" y="38862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úmero 111"/>
          <p:cNvSpPr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úmero texto 112"/>
          <p:cNvSpPr txBox="1"/>
          <p:nvPr/>
        </p:nvSpPr>
        <p:spPr>
          <a:xfrm>
            <a:off x="45720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Paso título 113"/>
          <p:cNvSpPr txBox="1"/>
          <p:nvPr/>
        </p:nvSpPr>
        <p:spPr>
          <a:xfrm>
            <a:off x="530352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 fachada combina</a:t>
            </a:r>
            <a:endParaRPr lang="en-US" sz="1700" dirty="0"/>
          </a:p>
        </p:txBody>
      </p:sp>
      <p:sp>
        <p:nvSpPr>
          <p:cNvPr id="27" name="Paso texto 114"/>
          <p:cNvSpPr txBox="1"/>
          <p:nvPr/>
        </p:nvSpPr>
        <p:spPr>
          <a:xfrm>
            <a:off x="4572000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Cuenta habitaciones ocupadas, filtra stock ≤ 5 y pone nombre a los más consumidos.</a:t>
            </a:r>
            <a:endParaRPr lang="en-US" sz="1600" dirty="0"/>
          </a:p>
        </p:txBody>
      </p:sp>
      <p:sp>
        <p:nvSpPr>
          <p:cNvPr id="28" name="Paso 6 115"/>
          <p:cNvSpPr/>
          <p:nvPr/>
        </p:nvSpPr>
        <p:spPr>
          <a:xfrm>
            <a:off x="8138160" y="38862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úmero 116"/>
          <p:cNvSpPr/>
          <p:nvPr/>
        </p:nvSpPr>
        <p:spPr>
          <a:xfrm>
            <a:off x="8366760" y="4114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Número texto 117"/>
          <p:cNvSpPr txBox="1"/>
          <p:nvPr/>
        </p:nvSpPr>
        <p:spPr>
          <a:xfrm>
            <a:off x="83667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Paso título 118"/>
          <p:cNvSpPr txBox="1"/>
          <p:nvPr/>
        </p:nvSpPr>
        <p:spPr>
          <a:xfrm>
            <a:off x="909828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Responde un solo JSON</a:t>
            </a:r>
            <a:endParaRPr lang="en-US" sz="1700" dirty="0"/>
          </a:p>
        </p:txBody>
      </p:sp>
      <p:sp>
        <p:nvSpPr>
          <p:cNvPr id="32" name="Paso texto 119"/>
          <p:cNvSpPr txBox="1"/>
          <p:nvPr/>
        </p:nvSpPr>
        <p:spPr>
          <a:xfrm>
            <a:off x="8366760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{ clients, roomsOccupied, lowStock, topProducts }. Si un servicio cae, devuelve el resto y warnings.</a:t>
            </a:r>
            <a:endParaRPr lang="en-US" sz="1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Segunda Facade: el broker de mensajes (RabbitMQ)</a:t>
            </a:r>
            <a:endParaRPr lang="en-US" sz="3000" dirty="0"/>
          </a:p>
        </p:txBody>
      </p:sp>
      <p:sp>
        <p:nvSpPr>
          <p:cNvPr id="3" name="Columna Cliente 120"/>
          <p:cNvSpPr txBox="1"/>
          <p:nvPr/>
        </p:nvSpPr>
        <p:spPr>
          <a:xfrm>
            <a:off x="54864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Cliente</a:t>
            </a:r>
            <a:endParaRPr lang="en-US" sz="1400" dirty="0"/>
          </a:p>
        </p:txBody>
      </p:sp>
      <p:sp>
        <p:nvSpPr>
          <p:cNvPr id="4" name="Columna Fachada 121"/>
          <p:cNvSpPr txBox="1"/>
          <p:nvPr/>
        </p:nvSpPr>
        <p:spPr>
          <a:xfrm>
            <a:off x="3931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Fachada</a:t>
            </a:r>
            <a:endParaRPr lang="en-US" sz="1400" dirty="0"/>
          </a:p>
        </p:txBody>
      </p:sp>
      <p:sp>
        <p:nvSpPr>
          <p:cNvPr id="5" name="Columna Subsistema 122"/>
          <p:cNvSpPr txBox="1"/>
          <p:nvPr/>
        </p:nvSpPr>
        <p:spPr>
          <a:xfrm>
            <a:off x="7589520" y="1325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Subsistema</a:t>
            </a:r>
            <a:endParaRPr lang="en-US" sz="1400" dirty="0"/>
          </a:p>
        </p:txBody>
      </p:sp>
      <p:sp>
        <p:nvSpPr>
          <p:cNvPr id="6" name="Columna Infra 123"/>
          <p:cNvSpPr txBox="1"/>
          <p:nvPr/>
        </p:nvSpPr>
        <p:spPr>
          <a:xfrm>
            <a:off x="1033272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Infra</a:t>
            </a:r>
            <a:endParaRPr lang="en-US" sz="1400" dirty="0"/>
          </a:p>
        </p:txBody>
      </p:sp>
      <p:sp>
        <p:nvSpPr>
          <p:cNvPr id="7" name="Cliente broker 124"/>
          <p:cNvSpPr/>
          <p:nvPr/>
        </p:nvSpPr>
        <p:spPr>
          <a:xfrm>
            <a:off x="548640" y="274320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liente broker texto 125"/>
          <p:cNvSpPr txBox="1"/>
          <p:nvPr/>
        </p:nvSpPr>
        <p:spPr>
          <a:xfrm>
            <a:off x="64008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Publishers y consumers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auth.publisher.ts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reservation.consumer.ts</a:t>
            </a:r>
            <a:endParaRPr lang="en-US" sz="1500" dirty="0"/>
          </a:p>
        </p:txBody>
      </p:sp>
      <p:sp>
        <p:nvSpPr>
          <p:cNvPr id="9" name="BrokerFacade 126"/>
          <p:cNvSpPr/>
          <p:nvPr/>
        </p:nvSpPr>
        <p:spPr>
          <a:xfrm>
            <a:off x="3931920" y="2514600"/>
            <a:ext cx="2743200" cy="2103120"/>
          </a:xfrm>
          <a:prstGeom prst="roundRect">
            <a:avLst>
              <a:gd name="adj" fmla="val 521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BrokerFacade texto 127"/>
          <p:cNvSpPr txBox="1"/>
          <p:nvPr/>
        </p:nvSpPr>
        <p:spPr>
          <a:xfrm>
            <a:off x="4023360" y="25146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BrokerFacade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connect()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publish()</a:t>
            </a:r>
            <a:endParaRPr lang="en-US" sz="18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subscribe()</a:t>
            </a:r>
            <a:endParaRPr lang="en-US" sz="1800" dirty="0"/>
          </a:p>
        </p:txBody>
      </p:sp>
      <p:sp>
        <p:nvSpPr>
          <p:cNvPr id="11" name="ConnectionManager 128"/>
          <p:cNvSpPr/>
          <p:nvPr/>
        </p:nvSpPr>
        <p:spPr>
          <a:xfrm>
            <a:off x="7589520" y="173736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onnectionManager texto 129"/>
          <p:cNvSpPr txBox="1"/>
          <p:nvPr/>
        </p:nvSpPr>
        <p:spPr>
          <a:xfrm>
            <a:off x="7680960" y="17373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ConnectionManager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conexión, canal, exchange</a:t>
            </a:r>
            <a:endParaRPr lang="en-US" sz="1400" dirty="0"/>
          </a:p>
        </p:txBody>
      </p:sp>
      <p:sp>
        <p:nvSpPr>
          <p:cNvPr id="13" name="EventPublisher 130"/>
          <p:cNvSpPr/>
          <p:nvPr/>
        </p:nvSpPr>
        <p:spPr>
          <a:xfrm>
            <a:off x="7589520" y="310896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ventPublisher texto 131"/>
          <p:cNvSpPr txBox="1"/>
          <p:nvPr/>
        </p:nvSpPr>
        <p:spPr>
          <a:xfrm>
            <a:off x="7680960" y="31089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EventPublisher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sobre del mensaje y Buffer</a:t>
            </a:r>
            <a:endParaRPr lang="en-US" sz="1400" dirty="0"/>
          </a:p>
        </p:txBody>
      </p:sp>
      <p:sp>
        <p:nvSpPr>
          <p:cNvPr id="15" name="EventSubscriber 132"/>
          <p:cNvSpPr/>
          <p:nvPr/>
        </p:nvSpPr>
        <p:spPr>
          <a:xfrm>
            <a:off x="7589520" y="448056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ventSubscriber texto 133"/>
          <p:cNvSpPr txBox="1"/>
          <p:nvPr/>
        </p:nvSpPr>
        <p:spPr>
          <a:xfrm>
            <a:off x="7680960" y="4480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EventSubscriber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cola, bindings, ack/nack</a:t>
            </a:r>
            <a:endParaRPr lang="en-US" sz="1400" dirty="0"/>
          </a:p>
        </p:txBody>
      </p:sp>
      <p:sp>
        <p:nvSpPr>
          <p:cNvPr id="17" name="RabbitMQ broker 134"/>
          <p:cNvSpPr/>
          <p:nvPr/>
        </p:nvSpPr>
        <p:spPr>
          <a:xfrm>
            <a:off x="10332720" y="1737360"/>
            <a:ext cx="1325880" cy="393192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RabbitMQ broker texto 135"/>
          <p:cNvSpPr txBox="1"/>
          <p:nvPr/>
        </p:nvSpPr>
        <p:spPr>
          <a:xfrm>
            <a:off x="10424160" y="1737360"/>
            <a:ext cx="1143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RabbitMQ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hotel_events</a:t>
            </a:r>
            <a:endParaRPr lang="en-US" sz="1600" dirty="0"/>
          </a:p>
        </p:txBody>
      </p:sp>
      <p:sp>
        <p:nvSpPr>
          <p:cNvPr id="19" name="Flecha 136"/>
          <p:cNvSpPr/>
          <p:nvPr/>
        </p:nvSpPr>
        <p:spPr>
          <a:xfrm>
            <a:off x="3108960" y="356616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Flecha 137"/>
          <p:cNvSpPr/>
          <p:nvPr/>
        </p:nvSpPr>
        <p:spPr>
          <a:xfrm flipV="1">
            <a:off x="6675120" y="2651760"/>
            <a:ext cx="914400" cy="9144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Flecha 138"/>
          <p:cNvSpPr/>
          <p:nvPr/>
        </p:nvSpPr>
        <p:spPr>
          <a:xfrm>
            <a:off x="6675120" y="3566160"/>
            <a:ext cx="914400" cy="1371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Flecha 139"/>
          <p:cNvSpPr/>
          <p:nvPr/>
        </p:nvSpPr>
        <p:spPr>
          <a:xfrm>
            <a:off x="6675120" y="3566160"/>
            <a:ext cx="914400" cy="15087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Flecha 140"/>
          <p:cNvSpPr/>
          <p:nvPr/>
        </p:nvSpPr>
        <p:spPr>
          <a:xfrm>
            <a:off x="9966960" y="2331720"/>
            <a:ext cx="365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Flecha 141"/>
          <p:cNvSpPr/>
          <p:nvPr/>
        </p:nvSpPr>
        <p:spPr>
          <a:xfrm>
            <a:off x="9966960" y="3703320"/>
            <a:ext cx="365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Flecha 142"/>
          <p:cNvSpPr/>
          <p:nvPr/>
        </p:nvSpPr>
        <p:spPr>
          <a:xfrm>
            <a:off x="9966960" y="5074920"/>
            <a:ext cx="365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6" name="Pie broker"/>
          <p:cNvSpPr txBox="1"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 repite en los 6 microservicios del backend: auth, rooms, reservations, products, clients y stays.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Antes y después: el dashboard en el navegador</a:t>
            </a:r>
            <a:endParaRPr lang="en-US" sz="3000" dirty="0"/>
          </a:p>
        </p:txBody>
      </p:sp>
      <p:sp>
        <p:nvSpPr>
          <p:cNvPr id="3" name="Etiqueta 143"/>
          <p:cNvSpPr/>
          <p:nvPr/>
        </p:nvSpPr>
        <p:spPr>
          <a:xfrm>
            <a:off x="548640" y="1371600"/>
            <a:ext cx="32918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Etiqueta texto 144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ANTES · sin Facade</a:t>
            </a:r>
            <a:endParaRPr lang="en-US" sz="1400" dirty="0"/>
          </a:p>
        </p:txBody>
      </p:sp>
      <p:sp>
        <p:nvSpPr>
          <p:cNvPr id="5" name="Código antes dashboard 145"/>
          <p:cNvSpPr/>
          <p:nvPr/>
        </p:nvSpPr>
        <p:spPr>
          <a:xfrm>
            <a:off x="548640" y="1828800"/>
            <a:ext cx="5486400" cy="356616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ódigo antes dashboard texto 146"/>
          <p:cNvSpPr txBox="1"/>
          <p:nvPr/>
        </p:nvSpPr>
        <p:spPr>
          <a:xfrm>
            <a:off x="731520" y="1938528"/>
            <a:ext cx="512064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dashboardService.ts (sin Facade)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[rooms, inventory, top, clients] =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Promise.all([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api.get("/rooms"),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api.get("/inventory"),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api.get("/inventory/top-consumed"),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api.get("/clients"),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lowStock = inventory.data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.filter((r) =&gt; r.stock &lt;= 5).length;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roomsOccupied = rooms.data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.filter((r) =&gt; r.status === "occupied").length;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names = new Map(inventory.data.map(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(r) =&gt; [r.product._id, r.product.name]));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...y armar topProducts con los nombres</a:t>
            </a:r>
            <a:endParaRPr lang="en-US" sz="1200" dirty="0"/>
          </a:p>
        </p:txBody>
      </p:sp>
      <p:sp>
        <p:nvSpPr>
          <p:cNvPr id="7" name="Etiqueta 147"/>
          <p:cNvSpPr/>
          <p:nvPr/>
        </p:nvSpPr>
        <p:spPr>
          <a:xfrm>
            <a:off x="6400800" y="1371600"/>
            <a:ext cx="32918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Etiqueta texto 148"/>
          <p:cNvSpPr txBox="1"/>
          <p:nvPr/>
        </p:nvSpPr>
        <p:spPr>
          <a:xfrm>
            <a:off x="64008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DESPUÉS · con Facade</a:t>
            </a:r>
            <a:endParaRPr lang="en-US" sz="1400" dirty="0"/>
          </a:p>
        </p:txBody>
      </p:sp>
      <p:sp>
        <p:nvSpPr>
          <p:cNvPr id="9" name="Código después dashboard 149"/>
          <p:cNvSpPr/>
          <p:nvPr/>
        </p:nvSpPr>
        <p:spPr>
          <a:xfrm>
            <a:off x="6400800" y="1828800"/>
            <a:ext cx="521208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ódigo después dashboard texto 150"/>
          <p:cNvSpPr txBox="1"/>
          <p:nvPr/>
        </p:nvSpPr>
        <p:spPr>
          <a:xfrm>
            <a:off x="6583680" y="1938528"/>
            <a:ext cx="4846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dashboardService.ts (con Facade)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getStats = async () =&gt;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api.get("/dashboard/stats");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res.data;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11" name="Resumen antes-después"/>
          <p:cNvSpPr txBox="1"/>
          <p:nvPr/>
        </p:nvSpPr>
        <p:spPr>
          <a:xfrm>
            <a:off x="6400800" y="34747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4 peticiones → 1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navegador ya no conoce rooms, products ni clients.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regla “bajo stock ≤ 5” vive en un solo lugar.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Cambia un servicio y el frontend no se entera.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Dentro de la Facade: el código del gateway</a:t>
            </a:r>
            <a:endParaRPr lang="en-US" sz="3000" dirty="0"/>
          </a:p>
        </p:txBody>
      </p:sp>
      <p:sp>
        <p:nvSpPr>
          <p:cNvPr id="3" name="Etiqueta 151"/>
          <p:cNvSpPr/>
          <p:nvPr/>
        </p:nvSpPr>
        <p:spPr>
          <a:xfrm>
            <a:off x="548640" y="1371600"/>
            <a:ext cx="310896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Etiqueta texto 152"/>
          <p:cNvSpPr txBox="1"/>
          <p:nvPr/>
        </p:nvSpPr>
        <p:spPr>
          <a:xfrm>
            <a:off x="5486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api-gateway/server.js</a:t>
            </a:r>
            <a:endParaRPr lang="en-US" sz="1400" dirty="0"/>
          </a:p>
        </p:txBody>
      </p:sp>
      <p:sp>
        <p:nvSpPr>
          <p:cNvPr id="5" name="Código gateway 153"/>
          <p:cNvSpPr/>
          <p:nvPr/>
        </p:nvSpPr>
        <p:spPr>
          <a:xfrm>
            <a:off x="548640" y="1828800"/>
            <a:ext cx="5486400" cy="283464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ódigo gateway texto 154"/>
          <p:cNvSpPr txBox="1"/>
          <p:nvPr/>
        </p:nvSpPr>
        <p:spPr>
          <a:xfrm>
            <a:off x="731520" y="1938528"/>
            <a:ext cx="512064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dashboardFacade = new DashboardFacade(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RoomsClient(ROOMS_URL),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ProductsClient(PRODUCTS_URL),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ClientsClient(CLIENTS_URL),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lowStockThreshold: 5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app.get("/api/dashboard/stats", async (req, res) =&gt;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stats = await dashboardFacade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.getStats(req.headers.authorization);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res.status(200).json(stats);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Etiqueta 155"/>
          <p:cNvSpPr/>
          <p:nvPr/>
        </p:nvSpPr>
        <p:spPr>
          <a:xfrm>
            <a:off x="6309360" y="1371600"/>
            <a:ext cx="393192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Etiqueta texto 156"/>
          <p:cNvSpPr txBox="1"/>
          <p:nvPr/>
        </p:nvSpPr>
        <p:spPr>
          <a:xfrm>
            <a:off x="63093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src/facades/dashboard.facade.js</a:t>
            </a:r>
            <a:endParaRPr lang="en-US" sz="1400" dirty="0"/>
          </a:p>
        </p:txBody>
      </p:sp>
      <p:sp>
        <p:nvSpPr>
          <p:cNvPr id="9" name="Código fachada 157"/>
          <p:cNvSpPr/>
          <p:nvPr/>
        </p:nvSpPr>
        <p:spPr>
          <a:xfrm>
            <a:off x="6309360" y="1828800"/>
            <a:ext cx="5303520" cy="283464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ódigo fachada texto 158"/>
          <p:cNvSpPr txBox="1"/>
          <p:nvPr/>
        </p:nvSpPr>
        <p:spPr>
          <a:xfrm>
            <a:off x="6492240" y="1938528"/>
            <a:ext cx="493776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extracto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getStats(auth)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[rooms, inv, top, clients] =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Promise.allSettled([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this.roomsClient.fetchRooms(auth),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this.productsClient.fetchInventory(auth),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this.productsClient.fetchTopConsumed(auth, 5),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this.clientsClient.fetchClients(auth),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combina; si alguno falló -&gt; warnings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clients, roomsOccupied, lowStock,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topProducts, warnings };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Nota 1 159"/>
          <p:cNvSpPr/>
          <p:nvPr/>
        </p:nvSpPr>
        <p:spPr>
          <a:xfrm>
            <a:off x="548640" y="5074920"/>
            <a:ext cx="35204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ta texto 160"/>
          <p:cNvSpPr txBox="1"/>
          <p:nvPr/>
        </p:nvSpPr>
        <p:spPr>
          <a:xfrm>
            <a:off x="731520" y="5074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Se construye con sus subsistemas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 inyectan los clientes: fácil de probar y de ampliar.</a:t>
            </a:r>
            <a:endParaRPr lang="en-US" sz="1500" dirty="0"/>
          </a:p>
        </p:txBody>
      </p:sp>
      <p:sp>
        <p:nvSpPr>
          <p:cNvPr id="13" name="Nota 2 161"/>
          <p:cNvSpPr/>
          <p:nvPr/>
        </p:nvSpPr>
        <p:spPr>
          <a:xfrm>
            <a:off x="4343400" y="5074920"/>
            <a:ext cx="35204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ota texto 162"/>
          <p:cNvSpPr txBox="1"/>
          <p:nvPr/>
        </p:nvSpPr>
        <p:spPr>
          <a:xfrm>
            <a:off x="4526280" y="5074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Un único endpoint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 gateway expone getStats y nada más.</a:t>
            </a:r>
            <a:endParaRPr lang="en-US" sz="1500" dirty="0"/>
          </a:p>
        </p:txBody>
      </p:sp>
      <p:sp>
        <p:nvSpPr>
          <p:cNvPr id="15" name="Nota 3 163"/>
          <p:cNvSpPr/>
          <p:nvPr/>
        </p:nvSpPr>
        <p:spPr>
          <a:xfrm>
            <a:off x="8138160" y="5074920"/>
            <a:ext cx="35204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ota texto 164"/>
          <p:cNvSpPr txBox="1"/>
          <p:nvPr/>
        </p:nvSpPr>
        <p:spPr>
          <a:xfrm>
            <a:off x="8321040" y="50749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allSettled, no all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 un servicio cae, el dashboard responde con el resto.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Antes y después: publicar un evento en RabbitMQ</a:t>
            </a:r>
            <a:endParaRPr lang="en-US" sz="3000" dirty="0"/>
          </a:p>
        </p:txBody>
      </p:sp>
      <p:sp>
        <p:nvSpPr>
          <p:cNvPr id="3" name="Etiqueta 165"/>
          <p:cNvSpPr/>
          <p:nvPr/>
        </p:nvSpPr>
        <p:spPr>
          <a:xfrm>
            <a:off x="548640" y="1371600"/>
            <a:ext cx="32918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Etiqueta texto 166"/>
          <p:cNvSpPr txBox="1"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ANTES · amqplib directo</a:t>
            </a:r>
            <a:endParaRPr lang="en-US" sz="1400" dirty="0"/>
          </a:p>
        </p:txBody>
      </p:sp>
      <p:sp>
        <p:nvSpPr>
          <p:cNvPr id="5" name="Código antes broker 167"/>
          <p:cNvSpPr/>
          <p:nvPr/>
        </p:nvSpPr>
        <p:spPr>
          <a:xfrm>
            <a:off x="548640" y="1828800"/>
            <a:ext cx="5943600" cy="36576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ódigo antes broker texto 168"/>
          <p:cNvSpPr txBox="1"/>
          <p:nvPr/>
        </p:nvSpPr>
        <p:spPr>
          <a:xfrm>
            <a:off x="731520" y="1938528"/>
            <a:ext cx="55778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auth.publisher.ts (antes)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channel = getRabbitChannel();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exchange =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process.env.RABBITMQ_EXCHANGE as string;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message =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event: "USER_LOGGED_IN",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timestamp: new Date().toISOString(),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channel.publish(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exchange,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"auth.user.logged_in",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Buffer.from(JSON.stringify(message)),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persistent: true,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contentType: "application/json"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Etiqueta 169"/>
          <p:cNvSpPr/>
          <p:nvPr/>
        </p:nvSpPr>
        <p:spPr>
          <a:xfrm>
            <a:off x="6858000" y="1371600"/>
            <a:ext cx="32918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Etiqueta texto 170"/>
          <p:cNvSpPr txBox="1"/>
          <p:nvPr/>
        </p:nvSpPr>
        <p:spPr>
          <a:xfrm>
            <a:off x="68580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DESPUÉS · con Facade</a:t>
            </a:r>
            <a:endParaRPr lang="en-US" sz="1400" dirty="0"/>
          </a:p>
        </p:txBody>
      </p:sp>
      <p:sp>
        <p:nvSpPr>
          <p:cNvPr id="9" name="Código después broker 171"/>
          <p:cNvSpPr/>
          <p:nvPr/>
        </p:nvSpPr>
        <p:spPr>
          <a:xfrm>
            <a:off x="6858000" y="1828800"/>
            <a:ext cx="475488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ódigo después broker texto 172"/>
          <p:cNvSpPr txBox="1"/>
          <p:nvPr/>
        </p:nvSpPr>
        <p:spPr>
          <a:xfrm>
            <a:off x="7040880" y="1938528"/>
            <a:ext cx="43891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auth.publisher.ts (después)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broker.publish(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"auth.user.logged_in",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"USER_LOGGED_IN",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11" name="Resumen broker"/>
          <p:cNvSpPr txBox="1"/>
          <p:nvPr/>
        </p:nvSpPr>
        <p:spPr>
          <a:xfrm>
            <a:off x="6858000" y="35204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~20 líneas → 1 llamada</a:t>
            </a:r>
            <a:endParaRPr lang="en-US" sz="2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Conexión, canal, exchange, serialización y opciones quedan dentro de la fachada.</a:t>
            </a:r>
            <a:endParaRPr lang="en-US" sz="2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Antes se copiaba en cada publisher y consumer de cada servicio.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Tiempos en localhost: 26% menos que 4 peticiones en paralelo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6309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ato 26% 173"/>
          <p:cNvSpPr/>
          <p:nvPr/>
        </p:nvSpPr>
        <p:spPr>
          <a:xfrm>
            <a:off x="7315200" y="1463040"/>
            <a:ext cx="42976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fra 174"/>
          <p:cNvSpPr txBox="1"/>
          <p:nvPr/>
        </p:nvSpPr>
        <p:spPr>
          <a:xfrm>
            <a:off x="7498080" y="14630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26%</a:t>
            </a:r>
            <a:endParaRPr lang="en-US" sz="4000" dirty="0"/>
          </a:p>
        </p:txBody>
      </p:sp>
      <p:sp>
        <p:nvSpPr>
          <p:cNvPr id="6" name="Cifra texto 175"/>
          <p:cNvSpPr txBox="1"/>
          <p:nvPr/>
        </p:nvSpPr>
        <p:spPr>
          <a:xfrm>
            <a:off x="9052560" y="146304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menos tiempo que 4 peticiones en paralelo</a:t>
            </a:r>
            <a:endParaRPr lang="en-US" sz="1400" dirty="0"/>
          </a:p>
        </p:txBody>
      </p:sp>
      <p:sp>
        <p:nvSpPr>
          <p:cNvPr id="7" name="Dato 68% 176"/>
          <p:cNvSpPr/>
          <p:nvPr/>
        </p:nvSpPr>
        <p:spPr>
          <a:xfrm>
            <a:off x="7315200" y="2743200"/>
            <a:ext cx="42976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fra 177"/>
          <p:cNvSpPr txBox="1"/>
          <p:nvPr/>
        </p:nvSpPr>
        <p:spPr>
          <a:xfrm>
            <a:off x="7498080" y="274320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68%</a:t>
            </a:r>
            <a:endParaRPr lang="en-US" sz="4000" dirty="0"/>
          </a:p>
        </p:txBody>
      </p:sp>
      <p:sp>
        <p:nvSpPr>
          <p:cNvPr id="9" name="Cifra texto 178"/>
          <p:cNvSpPr txBox="1"/>
          <p:nvPr/>
        </p:nvSpPr>
        <p:spPr>
          <a:xfrm>
            <a:off x="9052560" y="274320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menos tiempo que 4 peticiones en serie</a:t>
            </a:r>
            <a:endParaRPr lang="en-US" sz="1400" dirty="0"/>
          </a:p>
        </p:txBody>
      </p:sp>
      <p:graphicFrame>
        <p:nvGraphicFramePr>
          <p:cNvPr id="12" name="Tabla tiempos 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114800"/>
          <a:ext cx="429768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Modo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Mediana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P95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Con Facade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19,9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18,8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32,1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Sin · paralelo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26,9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24,1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41,9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Sin · en serie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61,4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57,5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88,6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Nota medición 180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n = 100 repeticiones por modo (+15 de calentamiento, orden intercalado) · gateway y servicios en Docker local · tiempos en milisegundos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Con latencia de red simulada: 75% menos que en serie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6309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ato 7% 181"/>
          <p:cNvSpPr/>
          <p:nvPr/>
        </p:nvSpPr>
        <p:spPr>
          <a:xfrm>
            <a:off x="7315200" y="1463040"/>
            <a:ext cx="42976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fra 182"/>
          <p:cNvSpPr txBox="1"/>
          <p:nvPr/>
        </p:nvSpPr>
        <p:spPr>
          <a:xfrm>
            <a:off x="7498080" y="14630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7%</a:t>
            </a:r>
            <a:endParaRPr lang="en-US" sz="4000" dirty="0"/>
          </a:p>
        </p:txBody>
      </p:sp>
      <p:sp>
        <p:nvSpPr>
          <p:cNvPr id="6" name="Cifra texto 183"/>
          <p:cNvSpPr txBox="1"/>
          <p:nvPr/>
        </p:nvSpPr>
        <p:spPr>
          <a:xfrm>
            <a:off x="9052560" y="146304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menos tiempo que 4 peticiones en paralelo</a:t>
            </a:r>
            <a:endParaRPr lang="en-US" sz="1400" dirty="0"/>
          </a:p>
        </p:txBody>
      </p:sp>
      <p:sp>
        <p:nvSpPr>
          <p:cNvPr id="7" name="Dato 75% 184"/>
          <p:cNvSpPr/>
          <p:nvPr/>
        </p:nvSpPr>
        <p:spPr>
          <a:xfrm>
            <a:off x="7315200" y="2743200"/>
            <a:ext cx="42976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fra 185"/>
          <p:cNvSpPr txBox="1"/>
          <p:nvPr/>
        </p:nvSpPr>
        <p:spPr>
          <a:xfrm>
            <a:off x="7498080" y="274320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75%</a:t>
            </a:r>
            <a:endParaRPr lang="en-US" sz="4000" dirty="0"/>
          </a:p>
        </p:txBody>
      </p:sp>
      <p:sp>
        <p:nvSpPr>
          <p:cNvPr id="9" name="Cifra texto 186"/>
          <p:cNvSpPr txBox="1"/>
          <p:nvPr/>
        </p:nvSpPr>
        <p:spPr>
          <a:xfrm>
            <a:off x="9052560" y="274320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menos tiempo que 4 peticiones en serie</a:t>
            </a:r>
            <a:endParaRPr lang="en-US" sz="1400" dirty="0"/>
          </a:p>
        </p:txBody>
      </p:sp>
      <p:graphicFrame>
        <p:nvGraphicFramePr>
          <p:cNvPr id="13" name="Tabla tiempos 1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114800"/>
          <a:ext cx="429768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Modo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Mediana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P95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Con Facade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69,9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68,4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85,6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Sin · paralelo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75,1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72,8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94,4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Sin · en serie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276,2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273,8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302,6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Nota medición 188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Simulación: +50 ms por petición navegador→gateway (el trabajo interno gateway→servicios no se penaliza) · n = 100 por modo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Demo: el mismo dashboard, con y sin Facade</a:t>
            </a:r>
            <a:endParaRPr lang="en-US" sz="3000" dirty="0"/>
          </a:p>
        </p:txBody>
      </p:sp>
      <p:sp>
        <p:nvSpPr>
          <p:cNvPr id="3" name="Etiqueta 189"/>
          <p:cNvSpPr/>
          <p:nvPr/>
        </p:nvSpPr>
        <p:spPr>
          <a:xfrm>
            <a:off x="548640" y="1371600"/>
            <a:ext cx="539496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Etiqueta texto 190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CON Facade · 1 petición</a:t>
            </a:r>
            <a:endParaRPr lang="en-US" sz="1400" dirty="0"/>
          </a:p>
        </p:txBody>
      </p:sp>
      <p:sp>
        <p:nvSpPr>
          <p:cNvPr id="5" name="Etiqueta 191"/>
          <p:cNvSpPr/>
          <p:nvPr/>
        </p:nvSpPr>
        <p:spPr>
          <a:xfrm>
            <a:off x="6217920" y="1371600"/>
            <a:ext cx="539496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Etiqueta texto 192"/>
          <p:cNvSpPr txBox="1"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SIN Facade · 4 peticiones</a:t>
            </a:r>
            <a:endParaRPr lang="en-US" sz="1400" dirty="0"/>
          </a:p>
        </p:txBody>
      </p:sp>
      <p:pic>
        <p:nvPicPr>
          <p:cNvPr id="7" name="Captura con Facade" descr="Dashboard con Facade: una petición del navegad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394960" cy="2276856"/>
          </a:xfrm>
          <a:prstGeom prst="rect">
            <a:avLst/>
          </a:prstGeom>
        </p:spPr>
      </p:pic>
      <p:pic>
        <p:nvPicPr>
          <p:cNvPr id="8" name="Captura sin Facade" descr="Dashboard sin Facade: cuatro peticiones del navegad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5394960" cy="2276856"/>
          </a:xfrm>
          <a:prstGeom prst="rect">
            <a:avLst/>
          </a:prstGeom>
        </p:spPr>
      </p:pic>
      <p:sp>
        <p:nvSpPr>
          <p:cNvPr id="9" name="Métrica con Facade"/>
          <p:cNvSpPr txBox="1"/>
          <p:nvPr/>
        </p:nvSpPr>
        <p:spPr>
          <a:xfrm>
            <a:off x="548640" y="42062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Peticiones del navegador: 1 · Tiempo medido: 30 ms</a:t>
            </a:r>
            <a:endParaRPr lang="en-US" sz="1600" dirty="0"/>
          </a:p>
        </p:txBody>
      </p:sp>
      <p:sp>
        <p:nvSpPr>
          <p:cNvPr id="10" name="Métrica sin Facade"/>
          <p:cNvSpPr txBox="1"/>
          <p:nvPr/>
        </p:nvSpPr>
        <p:spPr>
          <a:xfrm>
            <a:off x="6217920" y="42062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Peticiones del navegador: 4 · Tiempo medido: 46 ms</a:t>
            </a:r>
            <a:endParaRPr lang="en-US" sz="1600" dirty="0"/>
          </a:p>
        </p:txBody>
      </p:sp>
      <p:sp>
        <p:nvSpPr>
          <p:cNvPr id="11" name="Rutas con Facade"/>
          <p:cNvSpPr txBox="1"/>
          <p:nvPr/>
        </p:nvSpPr>
        <p:spPr>
          <a:xfrm>
            <a:off x="548640" y="4709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/api/dashboard/stats</a:t>
            </a:r>
            <a:endParaRPr lang="en-US" sz="1200" dirty="0"/>
          </a:p>
        </p:txBody>
      </p:sp>
      <p:sp>
        <p:nvSpPr>
          <p:cNvPr id="12" name="Rutas sin Facade"/>
          <p:cNvSpPr txBox="1"/>
          <p:nvPr/>
        </p:nvSpPr>
        <p:spPr>
          <a:xfrm>
            <a:off x="6217920" y="4709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/api/rooms   /api/inventory   /api/inventory/top-consumed   /api/clients</a:t>
            </a:r>
            <a:endParaRPr lang="en-US" sz="1200" dirty="0"/>
          </a:p>
        </p:txBody>
      </p:sp>
      <p:sp>
        <p:nvSpPr>
          <p:cNvPr id="13" name="Cómo repetir la demo 193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os de la demo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Para repetir: docker compose up --build  →  entrar con admin / admin123  →  Dashboard  →  botón Con Facade / Sin Facade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" name="Dato conclusión 1 194"/>
          <p:cNvSpPr/>
          <p:nvPr/>
        </p:nvSpPr>
        <p:spPr>
          <a:xfrm>
            <a:off x="548640" y="14630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ifra conclusión 195"/>
          <p:cNvSpPr txBox="1"/>
          <p:nvPr/>
        </p:nvSpPr>
        <p:spPr>
          <a:xfrm>
            <a:off x="822960" y="146304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1 vs 4</a:t>
            </a:r>
            <a:endParaRPr lang="en-US" sz="3600" dirty="0"/>
          </a:p>
        </p:txBody>
      </p:sp>
      <p:sp>
        <p:nvSpPr>
          <p:cNvPr id="5" name="Texto conclusión 196"/>
          <p:cNvSpPr txBox="1"/>
          <p:nvPr/>
        </p:nvSpPr>
        <p:spPr>
          <a:xfrm>
            <a:off x="3383280" y="146304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peticiones del navegador para armar el dashboard</a:t>
            </a:r>
            <a:endParaRPr lang="en-US" sz="1500" dirty="0"/>
          </a:p>
        </p:txBody>
      </p:sp>
      <p:sp>
        <p:nvSpPr>
          <p:cNvPr id="6" name="Dato conclusión 2 197"/>
          <p:cNvSpPr/>
          <p:nvPr/>
        </p:nvSpPr>
        <p:spPr>
          <a:xfrm>
            <a:off x="6172200" y="14630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ifra conclusión 198"/>
          <p:cNvSpPr txBox="1"/>
          <p:nvPr/>
        </p:nvSpPr>
        <p:spPr>
          <a:xfrm>
            <a:off x="6446520" y="146304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26% / 68%</a:t>
            </a:r>
            <a:endParaRPr lang="en-US" sz="3600" dirty="0"/>
          </a:p>
        </p:txBody>
      </p:sp>
      <p:sp>
        <p:nvSpPr>
          <p:cNvPr id="8" name="Texto conclusión 199"/>
          <p:cNvSpPr txBox="1"/>
          <p:nvPr/>
        </p:nvSpPr>
        <p:spPr>
          <a:xfrm>
            <a:off x="9006840" y="146304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menos tiempo que en paralelo / en serie (localhost)</a:t>
            </a:r>
            <a:endParaRPr lang="en-US" sz="1500" dirty="0"/>
          </a:p>
        </p:txBody>
      </p:sp>
      <p:sp>
        <p:nvSpPr>
          <p:cNvPr id="9" name="Dato conclusión 3 200"/>
          <p:cNvSpPr/>
          <p:nvPr/>
        </p:nvSpPr>
        <p:spPr>
          <a:xfrm>
            <a:off x="548640" y="324612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ifra conclusión 201"/>
          <p:cNvSpPr txBox="1"/>
          <p:nvPr/>
        </p:nvSpPr>
        <p:spPr>
          <a:xfrm>
            <a:off x="822960" y="32461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~20 → 1</a:t>
            </a:r>
            <a:endParaRPr lang="en-US" sz="3600" dirty="0"/>
          </a:p>
        </p:txBody>
      </p:sp>
      <p:sp>
        <p:nvSpPr>
          <p:cNvPr id="11" name="Texto conclusión 202"/>
          <p:cNvSpPr txBox="1"/>
          <p:nvPr/>
        </p:nvSpPr>
        <p:spPr>
          <a:xfrm>
            <a:off x="3383280" y="324612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líneas para publicar un evento con BrokerFacade</a:t>
            </a:r>
            <a:endParaRPr lang="en-US" sz="1500" dirty="0"/>
          </a:p>
        </p:txBody>
      </p:sp>
      <p:sp>
        <p:nvSpPr>
          <p:cNvPr id="12" name="Dato conclusión 4 203"/>
          <p:cNvSpPr/>
          <p:nvPr/>
        </p:nvSpPr>
        <p:spPr>
          <a:xfrm>
            <a:off x="6172200" y="324612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ifra conclusión 204"/>
          <p:cNvSpPr txBox="1"/>
          <p:nvPr/>
        </p:nvSpPr>
        <p:spPr>
          <a:xfrm>
            <a:off x="6446520" y="324612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0</a:t>
            </a:r>
            <a:endParaRPr lang="en-US" sz="3600" dirty="0"/>
          </a:p>
        </p:txBody>
      </p:sp>
      <p:sp>
        <p:nvSpPr>
          <p:cNvPr id="14" name="Texto conclusión 205"/>
          <p:cNvSpPr txBox="1"/>
          <p:nvPr/>
        </p:nvSpPr>
        <p:spPr>
          <a:xfrm>
            <a:off x="9006840" y="324612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cambios en el frontend al sumar otro servicio al dashboard (solo cambia la fachada)</a:t>
            </a:r>
            <a:endParaRPr lang="en-US" sz="1500" dirty="0"/>
          </a:p>
        </p:txBody>
      </p:sp>
      <p:sp>
        <p:nvSpPr>
          <p:cNvPr id="15" name="Costos del patrón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8A33D"/>
                </a:solidFill>
              </a:rPr>
              <a:t>Costos a tener en cuenta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Una fachada puede crecer hasta ser un “objeto dios”; el gateway pasa a ser un punto único de falla.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Mitigación aplicada: subsistemas pequeños, Promise.allSettled y warnings.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telPatrones Facade">
  <a:themeElements>
    <a:clrScheme name="HotelPatrones Facade">
      <a:dk1>
        <a:srgbClr val="1B1F2A"/>
      </a:dk1>
      <a:lt1>
        <a:srgbClr val="FFFFFF"/>
      </a:lt1>
      <a:dk2>
        <a:srgbClr val="0F3D3E"/>
      </a:dk2>
      <a:lt2>
        <a:srgbClr val="EEF3F2"/>
      </a:lt2>
      <a:accent1>
        <a:srgbClr val="0F766E"/>
      </a:accent1>
      <a:accent2>
        <a:srgbClr val="E8A33D"/>
      </a:accent2>
      <a:accent3>
        <a:srgbClr val="C2410C"/>
      </a:accent3>
      <a:accent4>
        <a:srgbClr val="64748B"/>
      </a:accent4>
      <a:accent5>
        <a:srgbClr val="0E7490"/>
      </a:accent5>
      <a:accent6>
        <a:srgbClr val="7C6AAE"/>
      </a:accent6>
      <a:hlink>
        <a:srgbClr val="0F766E"/>
      </a:hlink>
      <a:folHlink>
        <a:srgbClr val="64748B"/>
      </a:folHlink>
    </a:clrScheme>
    <a:fontScheme name="HotelPatrones Faca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2737</Words>
  <Application>Microsoft Office PowerPoint</Application>
  <PresentationFormat>Panorámica</PresentationFormat>
  <Paragraphs>319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HotelPatrones Facade</vt:lpstr>
      <vt:lpstr>Patrón Facade en HotelPatrones</vt:lpstr>
      <vt:lpstr>El problema, el qué y el cómo</vt:lpstr>
      <vt:lpstr>Cómo está construido: microservicios detrás de un gateway</vt:lpstr>
      <vt:lpstr>¿MVC o MVVM? Ninguno puro: capas y componentes</vt:lpstr>
      <vt:lpstr>Diagrama del patrón: DashboardFacade en el gateway</vt:lpstr>
      <vt:lpstr>Paso a paso: qué ocurre al abrir el dashboard</vt:lpstr>
      <vt:lpstr>Segunda Facade: el broker de mensajes (RabbitMQ)</vt:lpstr>
      <vt:lpstr>Antes y después: el dashboard en el navegador</vt:lpstr>
      <vt:lpstr>Dentro de la Facade: el código del gateway</vt:lpstr>
      <vt:lpstr>Antes y después: publicar un evento en RabbitMQ</vt:lpstr>
      <vt:lpstr>Tiempos en localhost: 26% menos que 4 peticiones en paralelo</vt:lpstr>
      <vt:lpstr>Con latencia de red simulada: 75% menos que en serie</vt:lpstr>
      <vt:lpstr>Demo: el mismo dashboard, con y sin Facade</vt:lpstr>
      <vt:lpstr>Conclusiones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Patrón Facade en HotelPatrones</dc:title>
  <dc:subject>Patrones de diseño - Facade</dc:subject>
  <dc:creator>PptxGenJS</dc:creator>
  <cp:lastModifiedBy>Joham Eliasid Osorio Quintero</cp:lastModifiedBy>
  <cp:revision>2</cp:revision>
  <dcterms:created xsi:type="dcterms:W3CDTF">2026-10-07T02:10:54Z</dcterms:created>
  <dcterms:modified xsi:type="dcterms:W3CDTF">2026-10-07T11:41:50Z</dcterms:modified>
</cp:coreProperties>
</file>